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  <a:srgbClr val="F8F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A99FE-D887-4018-8F41-EB7CCBDAF956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99E0F-A238-4299-839F-650ACB0C4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33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10E913-F33F-B053-E425-015C51D44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2ADA799-09C7-D9B7-6A99-DBF225D43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FCE0A6C-A56B-DCC0-840E-55779406E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21F0-1841-4333-A55E-D74F9FFDBDDF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F4B3421-4A5B-F686-118A-55AE3E4F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A5CCA19-98B7-345C-77CA-50C52F2A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9740-8C41-4F74-95FB-BE93F4183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8500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57B652-CEE0-41E5-8DE5-C1F9045DE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3399A7C-1862-BDA0-CFC9-58AB5B905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9DFF28D-C48A-EF7D-DDA3-478FE1CF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21F0-1841-4333-A55E-D74F9FFDBDDF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584A41A-2868-1CAE-2360-7AE7D5EEF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0B1F6E0-85B3-12C7-F654-806EB297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9740-8C41-4F74-95FB-BE93F4183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026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C16FA3-6430-0D97-CD0E-29694B321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0F53022-4A25-8114-6737-18C22EE6F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A31C1EA-9077-7351-A77E-A435F1872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21F0-1841-4333-A55E-D74F9FFDBDDF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DD48CE4-6BF8-35B6-8030-BB7B47322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2F5F9F6-06E3-C930-EB89-919C70764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9740-8C41-4F74-95FB-BE93F4183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405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9B11ED-747B-FEF2-1B6C-035097323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2C7652F-2360-E276-1BFB-8FCE336B78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8EB38A1-4FF2-A363-52D3-F2F1E92C4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D7A3A1C-431E-A949-96F9-8C30401E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21F0-1841-4333-A55E-D74F9FFDBDDF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CF14956-7314-DB84-E0F1-53BB2A264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67CF79E-024B-9569-74CC-DCD4519A8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9740-8C41-4F74-95FB-BE93F4183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51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637339-1720-0C3B-86D4-BEBD0D78E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A3CB542-12DA-4EEC-0300-106D60FC7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1218051-1F4B-F1E8-4132-8014B93FF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F757112E-6717-A805-FA17-6CF12CBE7E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B7B8219F-88E9-25B3-39EC-219C3471E1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58DD943C-6485-98C5-655A-08E9F528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21F0-1841-4333-A55E-D74F9FFDBDDF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806AE265-748A-4457-5113-AB9242AD7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32681857-F1CC-55BF-4015-4BC30F82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9740-8C41-4F74-95FB-BE93F4183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406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6B28F6-23F0-34E6-22DF-D250C996B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EFAD22D-9868-3327-A59A-608F7873C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21F0-1841-4333-A55E-D74F9FFDBDDF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CD7DDB1-9061-B528-005D-623E3A905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1F824911-F8AF-CAE3-BF3A-3C3EEC10A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9740-8C41-4F74-95FB-BE93F4183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926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1AD850D-D734-DB69-DA4A-1CD4A475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21F0-1841-4333-A55E-D74F9FFDBDDF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5CDA366-A299-5D84-2F09-DF09A66F2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12E8A07-8C51-F9D3-6AD2-81D1ADB47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9740-8C41-4F74-95FB-BE93F4183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728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801E0F-EC3E-83C0-2CDC-EA2204630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3B2AAE-8558-F07D-8424-0BC0A0BF0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B509293-F181-1467-CBAA-A4DDAAD8A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92F2829-EF26-2193-52A7-9CA7DE54A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21F0-1841-4333-A55E-D74F9FFDBDDF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A9B7361-C032-34FC-5B63-436040A3B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15B4627-F389-3D75-E4B2-9F4E5AFA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9740-8C41-4F74-95FB-BE93F4183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276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F76630-77F4-19FD-1A1C-6BC7759AD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923DDB8A-7D6B-5499-89B6-CCF3D02BA2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C49A771-16F4-49EF-FB9F-DAEABA439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FF57F9D-2BC2-1088-0C27-73C713134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21F0-1841-4333-A55E-D74F9FFDBDDF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151D071-EBE4-376E-A3EA-1504E98E0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4693269-C5DE-70AE-5B79-A5133E18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9740-8C41-4F74-95FB-BE93F4183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19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51D5F6-9B83-0BB1-D3B6-E6D45A6CF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4666221-C278-4E30-8B64-C330CB40C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00B783F-DE3D-3304-C16C-77C0B7B44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21F0-1841-4333-A55E-D74F9FFDBDDF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8569208-EFA2-0E99-78C9-79051640D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F060EBE-E95F-AA29-3EDA-C7BFCB69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9740-8C41-4F74-95FB-BE93F4183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316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A404FC79-BBCC-B38F-DCD6-0C25B48EB9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0550F47-9B93-16AB-1DBE-AA2F5D793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F7E5FA6-89E7-71A7-3336-5C9372064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21F0-1841-4333-A55E-D74F9FFDBDDF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7A4347A-9E6B-D750-FA36-7C78ABC80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DD534BD-4A61-0AA8-BE2C-2EDBBF08A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C9740-8C41-4F74-95FB-BE93F4183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10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2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4E6CC83-E036-2460-E002-86AB7F2EB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GB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D3CD242-6571-6C38-015D-563AD7B91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A083B9A-5D05-403C-2607-EB1A86349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C21F0-1841-4333-A55E-D74F9FFDBDDF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DF042A7-7F24-85C2-6C91-5661215184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511EC05-9295-89B7-D6BC-ABA808E1D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C9740-8C41-4F74-95FB-BE93F4183E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4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Kép 20">
            <a:extLst>
              <a:ext uri="{FF2B5EF4-FFF2-40B4-BE49-F238E27FC236}">
                <a16:creationId xmlns:a16="http://schemas.microsoft.com/office/drawing/2014/main" id="{76008361-7881-9DA8-92AB-CED2102FBD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8477" r="19081" b="1320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3" name="Téglalap 22">
            <a:extLst>
              <a:ext uri="{FF2B5EF4-FFF2-40B4-BE49-F238E27FC236}">
                <a16:creationId xmlns:a16="http://schemas.microsoft.com/office/drawing/2014/main" id="{7FA4A873-04E6-01C2-73CB-EDF8EDDD0C96}"/>
              </a:ext>
            </a:extLst>
          </p:cNvPr>
          <p:cNvSpPr/>
          <p:nvPr/>
        </p:nvSpPr>
        <p:spPr>
          <a:xfrm>
            <a:off x="0" y="2300663"/>
            <a:ext cx="12192000" cy="2103119"/>
          </a:xfrm>
          <a:prstGeom prst="rect">
            <a:avLst/>
          </a:prstGeom>
          <a:solidFill>
            <a:srgbClr val="2563EB">
              <a:alpha val="1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8" name="Csoportba foglalás 17">
            <a:extLst>
              <a:ext uri="{FF2B5EF4-FFF2-40B4-BE49-F238E27FC236}">
                <a16:creationId xmlns:a16="http://schemas.microsoft.com/office/drawing/2014/main" id="{E4C74FCC-E4A1-F003-7F09-19C76D6559C9}"/>
              </a:ext>
            </a:extLst>
          </p:cNvPr>
          <p:cNvGrpSpPr/>
          <p:nvPr/>
        </p:nvGrpSpPr>
        <p:grpSpPr>
          <a:xfrm>
            <a:off x="4500406" y="991397"/>
            <a:ext cx="3515280" cy="646331"/>
            <a:chOff x="4318203" y="50311"/>
            <a:chExt cx="3515280" cy="646331"/>
          </a:xfrm>
        </p:grpSpPr>
        <p:sp>
          <p:nvSpPr>
            <p:cNvPr id="4" name="Szövegdoboz 3">
              <a:extLst>
                <a:ext uri="{FF2B5EF4-FFF2-40B4-BE49-F238E27FC236}">
                  <a16:creationId xmlns:a16="http://schemas.microsoft.com/office/drawing/2014/main" id="{290B25DD-4C6E-4903-BA4A-D14EF9716181}"/>
                </a:ext>
              </a:extLst>
            </p:cNvPr>
            <p:cNvSpPr txBox="1"/>
            <p:nvPr/>
          </p:nvSpPr>
          <p:spPr>
            <a:xfrm>
              <a:off x="4790440" y="50311"/>
              <a:ext cx="30430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600" dirty="0" err="1">
                  <a:latin typeface="Poppins SemiBold" panose="020B0502040204020203" pitchFamily="2" charset="0"/>
                  <a:cs typeface="Poppins SemiBold" panose="020B0502040204020203" pitchFamily="2" charset="0"/>
                </a:rPr>
                <a:t>DepotMap</a:t>
              </a:r>
              <a:endParaRPr lang="en-GB" sz="3600" dirty="0">
                <a:latin typeface="Poppins SemiBold" panose="020B0502040204020203" pitchFamily="2" charset="0"/>
                <a:cs typeface="Poppins SemiBold" panose="020B0502040204020203" pitchFamily="2" charset="0"/>
              </a:endParaRPr>
            </a:p>
          </p:txBody>
        </p:sp>
        <p:pic>
          <p:nvPicPr>
            <p:cNvPr id="17" name="Kép 16">
              <a:extLst>
                <a:ext uri="{FF2B5EF4-FFF2-40B4-BE49-F238E27FC236}">
                  <a16:creationId xmlns:a16="http://schemas.microsoft.com/office/drawing/2014/main" id="{E00AE4DF-66B1-D0A9-1652-DB4F237EA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8203" y="135499"/>
              <a:ext cx="472237" cy="472237"/>
            </a:xfrm>
            <a:prstGeom prst="rect">
              <a:avLst/>
            </a:prstGeom>
          </p:spPr>
        </p:pic>
      </p:grp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797D4AA7-39F6-805D-5618-95F5E8BE21F4}"/>
              </a:ext>
            </a:extLst>
          </p:cNvPr>
          <p:cNvSpPr txBox="1"/>
          <p:nvPr/>
        </p:nvSpPr>
        <p:spPr>
          <a:xfrm>
            <a:off x="173273" y="2644590"/>
            <a:ext cx="118454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800" dirty="0">
                <a:latin typeface="Poppins Bold" panose="00000800000000000000" pitchFamily="2" charset="0"/>
                <a:cs typeface="Poppins Bold" panose="00000800000000000000" pitchFamily="2" charset="0"/>
              </a:rPr>
              <a:t>Digitális raktártérkép és </a:t>
            </a:r>
            <a:endParaRPr lang="en-GB" sz="4800" dirty="0">
              <a:latin typeface="Poppins Bold" panose="00000800000000000000" pitchFamily="2" charset="0"/>
              <a:cs typeface="Poppins Bold" panose="00000800000000000000" pitchFamily="2" charset="0"/>
            </a:endParaRPr>
          </a:p>
          <a:p>
            <a:pPr algn="ctr"/>
            <a:r>
              <a:rPr lang="hu-HU" sz="4800" dirty="0">
                <a:latin typeface="Poppins Bold" panose="00000800000000000000" pitchFamily="2" charset="0"/>
                <a:cs typeface="Poppins Bold" panose="00000800000000000000" pitchFamily="2" charset="0"/>
              </a:rPr>
              <a:t>logisztikai asszisztens</a:t>
            </a:r>
            <a:endParaRPr lang="en-GB" sz="4800" dirty="0"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65D48A9E-6C0E-356D-5A1A-DAB1A2BE7625}"/>
              </a:ext>
            </a:extLst>
          </p:cNvPr>
          <p:cNvSpPr txBox="1"/>
          <p:nvPr/>
        </p:nvSpPr>
        <p:spPr>
          <a:xfrm>
            <a:off x="6274997" y="6365891"/>
            <a:ext cx="5917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Bprof</a:t>
            </a:r>
            <a:r>
              <a:rPr lang="en-GB" sz="1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sz="1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Szoftvertervezés</a:t>
            </a:r>
            <a:r>
              <a:rPr lang="en-GB" sz="1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sz="1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és</a:t>
            </a:r>
            <a:r>
              <a:rPr lang="en-GB" sz="1600" dirty="0">
                <a:latin typeface="Poppins Medium" panose="00000600000000000000" pitchFamily="2" charset="0"/>
                <a:cs typeface="Poppins Medium" panose="00000600000000000000" pitchFamily="2" charset="0"/>
              </a:rPr>
              <a:t> –</a:t>
            </a:r>
            <a:r>
              <a:rPr lang="en-GB" sz="1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fejlesztés</a:t>
            </a:r>
            <a:r>
              <a:rPr lang="en-GB" sz="1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sz="1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specializáció</a:t>
            </a:r>
            <a:r>
              <a:rPr lang="en-GB" sz="1600" dirty="0">
                <a:latin typeface="Poppins Medium" panose="00000600000000000000" pitchFamily="2" charset="0"/>
                <a:cs typeface="Poppins Medium" panose="00000600000000000000" pitchFamily="2" charset="0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531707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FE4D9-A2E6-224D-5C5A-EE1BD96ED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Ábra 12" descr="Telitalálat egyszínű kitöltéssel">
            <a:extLst>
              <a:ext uri="{FF2B5EF4-FFF2-40B4-BE49-F238E27FC236}">
                <a16:creationId xmlns:a16="http://schemas.microsoft.com/office/drawing/2014/main" id="{8529329E-3FFD-62E8-A61C-9B3EF2166C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8309" y="3568148"/>
            <a:ext cx="2767781" cy="2767781"/>
          </a:xfrm>
          <a:prstGeom prst="rect">
            <a:avLst/>
          </a:prstGeom>
        </p:spPr>
      </p:pic>
      <p:sp>
        <p:nvSpPr>
          <p:cNvPr id="3" name="Téglalap 2">
            <a:extLst>
              <a:ext uri="{FF2B5EF4-FFF2-40B4-BE49-F238E27FC236}">
                <a16:creationId xmlns:a16="http://schemas.microsoft.com/office/drawing/2014/main" id="{0E4325B1-0952-55CF-1F61-18A4667ED5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246129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56A87619-82C9-899D-56EB-7B3A3FED3DF7}"/>
              </a:ext>
            </a:extLst>
          </p:cNvPr>
          <p:cNvSpPr txBox="1"/>
          <p:nvPr/>
        </p:nvSpPr>
        <p:spPr>
          <a:xfrm>
            <a:off x="540806" y="214714"/>
            <a:ext cx="19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latin typeface="Poppins SemiBold" panose="020B0502040204020203" pitchFamily="2" charset="0"/>
                <a:cs typeface="Poppins SemiBold" panose="020B0502040204020203" pitchFamily="2" charset="0"/>
              </a:rPr>
              <a:t>DepotMap</a:t>
            </a:r>
            <a:endParaRPr lang="en-GB" sz="2400" dirty="0">
              <a:latin typeface="Poppins SemiBold" panose="020B0502040204020203" pitchFamily="2" charset="0"/>
              <a:cs typeface="Poppins SemiBold" panose="020B0502040204020203" pitchFamily="2" charset="0"/>
            </a:endParaRP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6FFD489E-70A2-96BE-737E-B2C91D76AB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69" y="311027"/>
            <a:ext cx="269037" cy="269037"/>
          </a:xfrm>
          <a:prstGeom prst="rect">
            <a:avLst/>
          </a:prstGeom>
        </p:spPr>
      </p:pic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83C82933-A067-E8A6-E6F3-4357D3C822A2}"/>
              </a:ext>
            </a:extLst>
          </p:cNvPr>
          <p:cNvSpPr/>
          <p:nvPr/>
        </p:nvSpPr>
        <p:spPr>
          <a:xfrm>
            <a:off x="152499" y="1120471"/>
            <a:ext cx="2095511" cy="461665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94544310-3122-402C-CFA3-CE99213D9494}"/>
              </a:ext>
            </a:extLst>
          </p:cNvPr>
          <p:cNvSpPr txBox="1"/>
          <p:nvPr/>
        </p:nvSpPr>
        <p:spPr>
          <a:xfrm>
            <a:off x="3290807" y="828083"/>
            <a:ext cx="46891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Miért</a:t>
            </a:r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van </a:t>
            </a:r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rá</a:t>
            </a:r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szükség</a:t>
            </a:r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?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DCD8A2A-D0E5-B3DB-F234-0FAC3DC20E7B}"/>
              </a:ext>
            </a:extLst>
          </p:cNvPr>
          <p:cNvSpPr txBox="1"/>
          <p:nvPr/>
        </p:nvSpPr>
        <p:spPr>
          <a:xfrm>
            <a:off x="3362632" y="1698522"/>
            <a:ext cx="79444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Az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ipari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raktárkezelő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alkalmazások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drágák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az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Excel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táblázatok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és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a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papír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alapú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nyilvántartás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pedig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számos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problémát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okozhat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például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termékek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megkeresésénél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raktár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elrendezés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változásánál</a:t>
            </a: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95257C25-3AD1-AA0B-2B0B-491902066274}"/>
              </a:ext>
            </a:extLst>
          </p:cNvPr>
          <p:cNvSpPr txBox="1"/>
          <p:nvPr/>
        </p:nvSpPr>
        <p:spPr>
          <a:xfrm>
            <a:off x="3362632" y="3959150"/>
            <a:ext cx="62103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Mi a </a:t>
            </a:r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DepotMap</a:t>
            </a:r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projekt</a:t>
            </a:r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célja</a:t>
            </a:r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?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F7E7DB21-0758-BA28-F27A-CA64F6105C5A}"/>
              </a:ext>
            </a:extLst>
          </p:cNvPr>
          <p:cNvSpPr txBox="1"/>
          <p:nvPr/>
        </p:nvSpPr>
        <p:spPr>
          <a:xfrm>
            <a:off x="3362632" y="4879473"/>
            <a:ext cx="7944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Kis-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és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középvállalkozások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számára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egyszerű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, de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hatékony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eszköz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biztosítása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a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fizikai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raktáraik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digitalis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nyilvántartásához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napi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logisztikai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feladataik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támogatásához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17" name="Ábra 16" descr="Kitűző, rajta kérdőjel egyszínű kitöltéssel">
            <a:extLst>
              <a:ext uri="{FF2B5EF4-FFF2-40B4-BE49-F238E27FC236}">
                <a16:creationId xmlns:a16="http://schemas.microsoft.com/office/drawing/2014/main" id="{D813766E-97C5-8FEC-EFCB-72EBF83F0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5510" y="580064"/>
            <a:ext cx="2623991" cy="2623991"/>
          </a:xfrm>
          <a:prstGeom prst="rect">
            <a:avLst/>
          </a:prstGeom>
        </p:spPr>
      </p:pic>
      <p:sp>
        <p:nvSpPr>
          <p:cNvPr id="18" name="Szövegdoboz 17">
            <a:extLst>
              <a:ext uri="{FF2B5EF4-FFF2-40B4-BE49-F238E27FC236}">
                <a16:creationId xmlns:a16="http://schemas.microsoft.com/office/drawing/2014/main" id="{2ACE78B9-58A5-A345-DBB3-6A4E8A7C65EB}"/>
              </a:ext>
            </a:extLst>
          </p:cNvPr>
          <p:cNvSpPr txBox="1"/>
          <p:nvPr/>
        </p:nvSpPr>
        <p:spPr>
          <a:xfrm>
            <a:off x="382828" y="1177458"/>
            <a:ext cx="1630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</a:t>
            </a:r>
            <a:r>
              <a:rPr lang="en-GB" sz="16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projekt</a:t>
            </a:r>
            <a:r>
              <a:rPr lang="en-GB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célja</a:t>
            </a:r>
            <a:endParaRPr lang="en-GB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églalap 18">
            <a:extLst>
              <a:ext uri="{FF2B5EF4-FFF2-40B4-BE49-F238E27FC236}">
                <a16:creationId xmlns:a16="http://schemas.microsoft.com/office/drawing/2014/main" id="{87286CD9-0A05-76AA-FEB7-9E3B5FEC6AC4}"/>
              </a:ext>
            </a:extLst>
          </p:cNvPr>
          <p:cNvSpPr/>
          <p:nvPr/>
        </p:nvSpPr>
        <p:spPr>
          <a:xfrm>
            <a:off x="0" y="0"/>
            <a:ext cx="246129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ABDB7784-5FF6-C2E1-A387-DF74887892C9}"/>
              </a:ext>
            </a:extLst>
          </p:cNvPr>
          <p:cNvSpPr txBox="1"/>
          <p:nvPr/>
        </p:nvSpPr>
        <p:spPr>
          <a:xfrm>
            <a:off x="540806" y="214714"/>
            <a:ext cx="19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latin typeface="Poppins SemiBold" panose="020B0502040204020203" pitchFamily="2" charset="0"/>
                <a:cs typeface="Poppins SemiBold" panose="020B0502040204020203" pitchFamily="2" charset="0"/>
              </a:rPr>
              <a:t>DepotMap</a:t>
            </a:r>
            <a:endParaRPr lang="en-GB" sz="2400" dirty="0">
              <a:latin typeface="Poppins SemiBold" panose="020B0502040204020203" pitchFamily="2" charset="0"/>
              <a:cs typeface="Poppins SemiBold" panose="020B0502040204020203" pitchFamily="2" charset="0"/>
            </a:endParaRPr>
          </a:p>
        </p:txBody>
      </p:sp>
      <p:pic>
        <p:nvPicPr>
          <p:cNvPr id="21" name="Kép 20">
            <a:extLst>
              <a:ext uri="{FF2B5EF4-FFF2-40B4-BE49-F238E27FC236}">
                <a16:creationId xmlns:a16="http://schemas.microsoft.com/office/drawing/2014/main" id="{21B7A996-8EA2-2B36-052E-E0F981654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69" y="311027"/>
            <a:ext cx="269037" cy="269037"/>
          </a:xfrm>
          <a:prstGeom prst="rect">
            <a:avLst/>
          </a:prstGeom>
        </p:spPr>
      </p:pic>
      <p:sp>
        <p:nvSpPr>
          <p:cNvPr id="22" name="Téglalap: lekerekített 21">
            <a:extLst>
              <a:ext uri="{FF2B5EF4-FFF2-40B4-BE49-F238E27FC236}">
                <a16:creationId xmlns:a16="http://schemas.microsoft.com/office/drawing/2014/main" id="{D91AFF0D-96E5-4AED-F4ED-AC7BDEF1ECB8}"/>
              </a:ext>
            </a:extLst>
          </p:cNvPr>
          <p:cNvSpPr/>
          <p:nvPr/>
        </p:nvSpPr>
        <p:spPr>
          <a:xfrm>
            <a:off x="152499" y="1120471"/>
            <a:ext cx="2095511" cy="461665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73C3BA15-2465-3BE7-187C-1D062D0AD23A}"/>
              </a:ext>
            </a:extLst>
          </p:cNvPr>
          <p:cNvSpPr txBox="1"/>
          <p:nvPr/>
        </p:nvSpPr>
        <p:spPr>
          <a:xfrm>
            <a:off x="665492" y="1953265"/>
            <a:ext cx="10695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Funkciók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14EADB71-CE91-975A-9916-0A1937236F69}"/>
              </a:ext>
            </a:extLst>
          </p:cNvPr>
          <p:cNvSpPr txBox="1"/>
          <p:nvPr/>
        </p:nvSpPr>
        <p:spPr>
          <a:xfrm>
            <a:off x="382828" y="1177458"/>
            <a:ext cx="1630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</a:t>
            </a:r>
            <a:r>
              <a:rPr lang="en-GB" sz="16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projekt</a:t>
            </a:r>
            <a:r>
              <a:rPr lang="en-GB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GB" sz="16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célja</a:t>
            </a:r>
            <a:endParaRPr lang="en-GB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7DEBDE2F-3CC3-FFDA-BDB7-40CB16A79E53}"/>
              </a:ext>
            </a:extLst>
          </p:cNvPr>
          <p:cNvSpPr txBox="1"/>
          <p:nvPr/>
        </p:nvSpPr>
        <p:spPr>
          <a:xfrm>
            <a:off x="799566" y="2755964"/>
            <a:ext cx="798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Demo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ED6FCD22-6B08-1AD2-45B1-325F32C041DF}"/>
              </a:ext>
            </a:extLst>
          </p:cNvPr>
          <p:cNvSpPr txBox="1"/>
          <p:nvPr/>
        </p:nvSpPr>
        <p:spPr>
          <a:xfrm>
            <a:off x="456567" y="3565563"/>
            <a:ext cx="1556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Technológiák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CF6565C6-09CC-D997-98B6-4918358196BC}"/>
              </a:ext>
            </a:extLst>
          </p:cNvPr>
          <p:cNvSpPr txBox="1"/>
          <p:nvPr/>
        </p:nvSpPr>
        <p:spPr>
          <a:xfrm>
            <a:off x="412479" y="4371404"/>
            <a:ext cx="16642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Csapatmunka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025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690AD-E57E-A54C-141A-0ABEC8460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D7A818F2-240C-0D4F-D53E-5D3FDF8D41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246129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040BF90B-5F32-3922-B713-1585B1AE5BD4}"/>
              </a:ext>
            </a:extLst>
          </p:cNvPr>
          <p:cNvSpPr txBox="1"/>
          <p:nvPr/>
        </p:nvSpPr>
        <p:spPr>
          <a:xfrm>
            <a:off x="540806" y="214714"/>
            <a:ext cx="19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latin typeface="Poppins SemiBold" panose="020B0502040204020203" pitchFamily="2" charset="0"/>
                <a:cs typeface="Poppins SemiBold" panose="020B0502040204020203" pitchFamily="2" charset="0"/>
              </a:rPr>
              <a:t>DepotMap</a:t>
            </a:r>
            <a:endParaRPr lang="en-GB" sz="2400" dirty="0">
              <a:latin typeface="Poppins SemiBold" panose="020B0502040204020203" pitchFamily="2" charset="0"/>
              <a:cs typeface="Poppins SemiBold" panose="020B0502040204020203" pitchFamily="2" charset="0"/>
            </a:endParaRP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50733271-2441-645C-54E3-7B19BDB8A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69" y="311027"/>
            <a:ext cx="269037" cy="269037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52676ABB-D774-133A-DC33-BFD40D93F285}"/>
              </a:ext>
            </a:extLst>
          </p:cNvPr>
          <p:cNvSpPr txBox="1"/>
          <p:nvPr/>
        </p:nvSpPr>
        <p:spPr>
          <a:xfrm>
            <a:off x="3290807" y="828083"/>
            <a:ext cx="714490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Mik a </a:t>
            </a:r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legfőbb</a:t>
            </a:r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elkészült</a:t>
            </a:r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funkciói</a:t>
            </a:r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a </a:t>
            </a:r>
          </a:p>
          <a:p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rendszernek</a:t>
            </a:r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?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9FF3F893-BBFF-B629-291B-37EA604CA355}"/>
              </a:ext>
            </a:extLst>
          </p:cNvPr>
          <p:cNvSpPr txBox="1"/>
          <p:nvPr/>
        </p:nvSpPr>
        <p:spPr>
          <a:xfrm>
            <a:off x="3290807" y="2176042"/>
            <a:ext cx="794446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Raktártervező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modul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első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szinten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egy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rácshálós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alaprajz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tervezővel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második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szinten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pedig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a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polcterületek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belső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elrendezésére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szolgáló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résszel</a:t>
            </a:r>
            <a:b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Útvonaltervező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modul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a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leghatékonyabb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kiszedési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sorrend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megvalósításához</a:t>
            </a:r>
            <a:b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Termékek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rendelések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beszerezések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mozgatások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kezelése</a:t>
            </a:r>
            <a:b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Felhasználók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hozzáadása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kezelése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, a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munkavállalók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jogköreinek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meghatározása</a:t>
            </a: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10" name="Ábra 9" descr="Blog körvonalas">
            <a:extLst>
              <a:ext uri="{FF2B5EF4-FFF2-40B4-BE49-F238E27FC236}">
                <a16:creationId xmlns:a16="http://schemas.microsoft.com/office/drawing/2014/main" id="{D039A0FF-32D5-2E24-7103-4DB4415690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7525" y="0"/>
            <a:ext cx="3817716" cy="3817716"/>
          </a:xfrm>
          <a:prstGeom prst="rect">
            <a:avLst/>
          </a:prstGeom>
        </p:spPr>
      </p:pic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7CF41D65-D0A5-FF11-6674-9F25A446FE59}"/>
              </a:ext>
            </a:extLst>
          </p:cNvPr>
          <p:cNvSpPr/>
          <p:nvPr/>
        </p:nvSpPr>
        <p:spPr>
          <a:xfrm>
            <a:off x="152499" y="1891710"/>
            <a:ext cx="2095511" cy="461665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0C033A21-FE4E-0042-64A7-BDAA7DAC9598}"/>
              </a:ext>
            </a:extLst>
          </p:cNvPr>
          <p:cNvSpPr txBox="1"/>
          <p:nvPr/>
        </p:nvSpPr>
        <p:spPr>
          <a:xfrm>
            <a:off x="665492" y="1953265"/>
            <a:ext cx="10695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Funkciók</a:t>
            </a:r>
            <a:endParaRPr lang="en-GB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E8F0D365-D806-7A77-689E-93E1A2FCB696}"/>
              </a:ext>
            </a:extLst>
          </p:cNvPr>
          <p:cNvSpPr txBox="1"/>
          <p:nvPr/>
        </p:nvSpPr>
        <p:spPr>
          <a:xfrm>
            <a:off x="382828" y="1177458"/>
            <a:ext cx="1630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A </a:t>
            </a:r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projekt</a:t>
            </a:r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célja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33F26EAA-2018-1E7C-AEB5-43A0DCCC65E4}"/>
              </a:ext>
            </a:extLst>
          </p:cNvPr>
          <p:cNvSpPr txBox="1"/>
          <p:nvPr/>
        </p:nvSpPr>
        <p:spPr>
          <a:xfrm>
            <a:off x="799566" y="2755964"/>
            <a:ext cx="798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Demo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FF93BE2A-17A5-ECE3-3D99-45A76CBE1684}"/>
              </a:ext>
            </a:extLst>
          </p:cNvPr>
          <p:cNvSpPr txBox="1"/>
          <p:nvPr/>
        </p:nvSpPr>
        <p:spPr>
          <a:xfrm>
            <a:off x="456567" y="3565563"/>
            <a:ext cx="1556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Technológiák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BCC81C72-E61C-852F-1524-E4E096D8EE8D}"/>
              </a:ext>
            </a:extLst>
          </p:cNvPr>
          <p:cNvSpPr txBox="1"/>
          <p:nvPr/>
        </p:nvSpPr>
        <p:spPr>
          <a:xfrm>
            <a:off x="412479" y="4371404"/>
            <a:ext cx="16642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Csapatmunka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087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03F5E-EB5D-1C00-5F81-198ED804E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Ábra 12" descr="Számítógép körvonalas">
            <a:extLst>
              <a:ext uri="{FF2B5EF4-FFF2-40B4-BE49-F238E27FC236}">
                <a16:creationId xmlns:a16="http://schemas.microsoft.com/office/drawing/2014/main" id="{530B293F-28FB-686C-D15B-04457B31D8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68887" y="311027"/>
            <a:ext cx="1942618" cy="1942618"/>
          </a:xfrm>
          <a:prstGeom prst="rect">
            <a:avLst/>
          </a:prstGeom>
        </p:spPr>
      </p:pic>
      <p:sp>
        <p:nvSpPr>
          <p:cNvPr id="3" name="Téglalap 2">
            <a:extLst>
              <a:ext uri="{FF2B5EF4-FFF2-40B4-BE49-F238E27FC236}">
                <a16:creationId xmlns:a16="http://schemas.microsoft.com/office/drawing/2014/main" id="{3FCE5388-B97E-726B-2883-361D742882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246129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2DEC893A-58F6-F180-57BA-E99CF7ABE485}"/>
              </a:ext>
            </a:extLst>
          </p:cNvPr>
          <p:cNvSpPr txBox="1"/>
          <p:nvPr/>
        </p:nvSpPr>
        <p:spPr>
          <a:xfrm>
            <a:off x="540806" y="214714"/>
            <a:ext cx="19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latin typeface="Poppins SemiBold" panose="020B0502040204020203" pitchFamily="2" charset="0"/>
                <a:cs typeface="Poppins SemiBold" panose="020B0502040204020203" pitchFamily="2" charset="0"/>
              </a:rPr>
              <a:t>DepotMap</a:t>
            </a:r>
            <a:endParaRPr lang="en-GB" sz="2400" dirty="0">
              <a:latin typeface="Poppins SemiBold" panose="020B0502040204020203" pitchFamily="2" charset="0"/>
              <a:cs typeface="Poppins SemiBold" panose="020B0502040204020203" pitchFamily="2" charset="0"/>
            </a:endParaRP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14F1F9C0-EADF-06D1-D5FA-9F0A06786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69" y="311027"/>
            <a:ext cx="269037" cy="269037"/>
          </a:xfrm>
          <a:prstGeom prst="rect">
            <a:avLst/>
          </a:prstGeom>
        </p:spPr>
      </p:pic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75614791-6A20-2E38-304B-FBB42D7688AA}"/>
              </a:ext>
            </a:extLst>
          </p:cNvPr>
          <p:cNvSpPr/>
          <p:nvPr/>
        </p:nvSpPr>
        <p:spPr>
          <a:xfrm>
            <a:off x="152499" y="1120471"/>
            <a:ext cx="2095511" cy="461665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51C2F420-FFC9-9F92-BBD5-F9C1961C5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807" y="1823980"/>
            <a:ext cx="8532227" cy="4113833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69FA26CE-3407-CE69-3A76-F576C32F684C}"/>
              </a:ext>
            </a:extLst>
          </p:cNvPr>
          <p:cNvSpPr txBox="1"/>
          <p:nvPr/>
        </p:nvSpPr>
        <p:spPr>
          <a:xfrm>
            <a:off x="3290807" y="828083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DepotMap</a:t>
            </a:r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élő</a:t>
            </a:r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demó</a:t>
            </a:r>
            <a:endParaRPr lang="en-GB" sz="32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671857AF-C76F-0D0E-31E6-1EC90FC9541A}"/>
              </a:ext>
            </a:extLst>
          </p:cNvPr>
          <p:cNvSpPr/>
          <p:nvPr/>
        </p:nvSpPr>
        <p:spPr>
          <a:xfrm>
            <a:off x="0" y="0"/>
            <a:ext cx="246129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A2486116-50FB-B56C-BF48-4B5838C66907}"/>
              </a:ext>
            </a:extLst>
          </p:cNvPr>
          <p:cNvSpPr txBox="1"/>
          <p:nvPr/>
        </p:nvSpPr>
        <p:spPr>
          <a:xfrm>
            <a:off x="540806" y="214714"/>
            <a:ext cx="19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latin typeface="Poppins SemiBold" panose="020B0502040204020203" pitchFamily="2" charset="0"/>
                <a:cs typeface="Poppins SemiBold" panose="020B0502040204020203" pitchFamily="2" charset="0"/>
              </a:rPr>
              <a:t>DepotMap</a:t>
            </a:r>
            <a:endParaRPr lang="en-GB" sz="2400" dirty="0">
              <a:latin typeface="Poppins SemiBold" panose="020B0502040204020203" pitchFamily="2" charset="0"/>
              <a:cs typeface="Poppins SemiBold" panose="020B0502040204020203" pitchFamily="2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807E71DA-F304-4171-90FB-2C1888DFD4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69" y="311027"/>
            <a:ext cx="269037" cy="269037"/>
          </a:xfrm>
          <a:prstGeom prst="rect">
            <a:avLst/>
          </a:prstGeom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AF5ED653-5EF9-0724-73E3-E1D85E9C7E7A}"/>
              </a:ext>
            </a:extLst>
          </p:cNvPr>
          <p:cNvSpPr txBox="1"/>
          <p:nvPr/>
        </p:nvSpPr>
        <p:spPr>
          <a:xfrm>
            <a:off x="665492" y="1953265"/>
            <a:ext cx="10695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Funkciók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165C2B3B-80F2-E71F-AA51-757D3BBBFD76}"/>
              </a:ext>
            </a:extLst>
          </p:cNvPr>
          <p:cNvSpPr txBox="1"/>
          <p:nvPr/>
        </p:nvSpPr>
        <p:spPr>
          <a:xfrm>
            <a:off x="382828" y="1177458"/>
            <a:ext cx="1630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A </a:t>
            </a:r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projekt</a:t>
            </a:r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célja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63D46216-87DC-AF9E-442C-60914C3A44ED}"/>
              </a:ext>
            </a:extLst>
          </p:cNvPr>
          <p:cNvSpPr/>
          <p:nvPr/>
        </p:nvSpPr>
        <p:spPr>
          <a:xfrm>
            <a:off x="178419" y="2697859"/>
            <a:ext cx="2095511" cy="461665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F38685A5-2979-E5D6-0727-C263BFC68B0E}"/>
              </a:ext>
            </a:extLst>
          </p:cNvPr>
          <p:cNvSpPr txBox="1"/>
          <p:nvPr/>
        </p:nvSpPr>
        <p:spPr>
          <a:xfrm>
            <a:off x="799566" y="2755964"/>
            <a:ext cx="798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Demo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2D1A6B56-1FAE-5E03-5E6A-BCA5F0E01D74}"/>
              </a:ext>
            </a:extLst>
          </p:cNvPr>
          <p:cNvSpPr txBox="1"/>
          <p:nvPr/>
        </p:nvSpPr>
        <p:spPr>
          <a:xfrm>
            <a:off x="456567" y="3565563"/>
            <a:ext cx="1556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Technológiák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A46D3DD5-9E37-0B79-74D1-64765DF84C97}"/>
              </a:ext>
            </a:extLst>
          </p:cNvPr>
          <p:cNvSpPr txBox="1"/>
          <p:nvPr/>
        </p:nvSpPr>
        <p:spPr>
          <a:xfrm>
            <a:off x="412479" y="4371404"/>
            <a:ext cx="16642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Csapatmunka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762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A8734-64CD-21A1-2B3E-DF0E93373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Ábra 17" descr="Rétegek kialakítás körvonalas">
            <a:extLst>
              <a:ext uri="{FF2B5EF4-FFF2-40B4-BE49-F238E27FC236}">
                <a16:creationId xmlns:a16="http://schemas.microsoft.com/office/drawing/2014/main" id="{6B7865D1-BD91-1905-570C-4AC94FF6F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92720" y="311027"/>
            <a:ext cx="3982720" cy="3982720"/>
          </a:xfrm>
          <a:prstGeom prst="rect">
            <a:avLst/>
          </a:prstGeom>
        </p:spPr>
      </p:pic>
      <p:sp>
        <p:nvSpPr>
          <p:cNvPr id="3" name="Téglalap 2">
            <a:extLst>
              <a:ext uri="{FF2B5EF4-FFF2-40B4-BE49-F238E27FC236}">
                <a16:creationId xmlns:a16="http://schemas.microsoft.com/office/drawing/2014/main" id="{B252FFBC-6312-9986-3242-E9C02929BC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246129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CCB74888-A296-3D53-3079-19CECC9B8E52}"/>
              </a:ext>
            </a:extLst>
          </p:cNvPr>
          <p:cNvSpPr txBox="1"/>
          <p:nvPr/>
        </p:nvSpPr>
        <p:spPr>
          <a:xfrm>
            <a:off x="540806" y="214714"/>
            <a:ext cx="19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latin typeface="Poppins SemiBold" panose="020B0502040204020203" pitchFamily="2" charset="0"/>
                <a:cs typeface="Poppins SemiBold" panose="020B0502040204020203" pitchFamily="2" charset="0"/>
              </a:rPr>
              <a:t>DepotMap</a:t>
            </a:r>
            <a:endParaRPr lang="en-GB" sz="2400" dirty="0">
              <a:latin typeface="Poppins SemiBold" panose="020B0502040204020203" pitchFamily="2" charset="0"/>
              <a:cs typeface="Poppins SemiBold" panose="020B0502040204020203" pitchFamily="2" charset="0"/>
            </a:endParaRP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3A9135A4-00AC-4AE8-21ED-318FF37602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69" y="311027"/>
            <a:ext cx="269037" cy="269037"/>
          </a:xfrm>
          <a:prstGeom prst="rect">
            <a:avLst/>
          </a:prstGeom>
        </p:spPr>
      </p:pic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A1609AAC-1581-919D-4ED5-5B73CD58E351}"/>
              </a:ext>
            </a:extLst>
          </p:cNvPr>
          <p:cNvSpPr/>
          <p:nvPr/>
        </p:nvSpPr>
        <p:spPr>
          <a:xfrm>
            <a:off x="152499" y="1120471"/>
            <a:ext cx="2095511" cy="461665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6B0CB79F-1D89-1B31-F029-B7F8D9C0F7C3}"/>
              </a:ext>
            </a:extLst>
          </p:cNvPr>
          <p:cNvSpPr txBox="1"/>
          <p:nvPr/>
        </p:nvSpPr>
        <p:spPr>
          <a:xfrm>
            <a:off x="3290807" y="828083"/>
            <a:ext cx="48510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Használt</a:t>
            </a:r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technológiák</a:t>
            </a:r>
            <a:endParaRPr lang="en-GB" sz="32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82A807F1-C1C2-D62F-8140-AF36CF6ACC26}"/>
              </a:ext>
            </a:extLst>
          </p:cNvPr>
          <p:cNvSpPr txBox="1"/>
          <p:nvPr/>
        </p:nvSpPr>
        <p:spPr>
          <a:xfrm>
            <a:off x="3290807" y="1782600"/>
            <a:ext cx="79444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Backend: ASP.NET, Entity Framework</a:t>
            </a:r>
            <a:b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+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LocalDb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adatbázis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a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fejlesztéshez</a:t>
            </a:r>
            <a:b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Frontend: Angular, Bootstrap</a:t>
            </a:r>
            <a:b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+Konva.js (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raktár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rendszer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megvalósításához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+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jsPDF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(PDF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generáláshoz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9" name="Téglalap 18">
            <a:extLst>
              <a:ext uri="{FF2B5EF4-FFF2-40B4-BE49-F238E27FC236}">
                <a16:creationId xmlns:a16="http://schemas.microsoft.com/office/drawing/2014/main" id="{B4A07DB4-24D8-0E87-0F0F-2A2483D04E0D}"/>
              </a:ext>
            </a:extLst>
          </p:cNvPr>
          <p:cNvSpPr/>
          <p:nvPr/>
        </p:nvSpPr>
        <p:spPr>
          <a:xfrm>
            <a:off x="0" y="0"/>
            <a:ext cx="246129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5855219A-A08C-2C21-C3E6-06797819D518}"/>
              </a:ext>
            </a:extLst>
          </p:cNvPr>
          <p:cNvSpPr txBox="1"/>
          <p:nvPr/>
        </p:nvSpPr>
        <p:spPr>
          <a:xfrm>
            <a:off x="540806" y="214714"/>
            <a:ext cx="19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latin typeface="Poppins SemiBold" panose="020B0502040204020203" pitchFamily="2" charset="0"/>
                <a:cs typeface="Poppins SemiBold" panose="020B0502040204020203" pitchFamily="2" charset="0"/>
              </a:rPr>
              <a:t>DepotMap</a:t>
            </a:r>
            <a:endParaRPr lang="en-GB" sz="2400" dirty="0">
              <a:latin typeface="Poppins SemiBold" panose="020B0502040204020203" pitchFamily="2" charset="0"/>
              <a:cs typeface="Poppins SemiBold" panose="020B0502040204020203" pitchFamily="2" charset="0"/>
            </a:endParaRPr>
          </a:p>
        </p:txBody>
      </p:sp>
      <p:pic>
        <p:nvPicPr>
          <p:cNvPr id="21" name="Kép 20">
            <a:extLst>
              <a:ext uri="{FF2B5EF4-FFF2-40B4-BE49-F238E27FC236}">
                <a16:creationId xmlns:a16="http://schemas.microsoft.com/office/drawing/2014/main" id="{3AA43FE0-239E-9FB7-71DA-CD5152128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69" y="311027"/>
            <a:ext cx="269037" cy="269037"/>
          </a:xfrm>
          <a:prstGeom prst="rect">
            <a:avLst/>
          </a:prstGeom>
        </p:spPr>
      </p:pic>
      <p:sp>
        <p:nvSpPr>
          <p:cNvPr id="24" name="Szövegdoboz 23">
            <a:extLst>
              <a:ext uri="{FF2B5EF4-FFF2-40B4-BE49-F238E27FC236}">
                <a16:creationId xmlns:a16="http://schemas.microsoft.com/office/drawing/2014/main" id="{BC142A84-75D7-C088-15AA-155BD75053A8}"/>
              </a:ext>
            </a:extLst>
          </p:cNvPr>
          <p:cNvSpPr txBox="1"/>
          <p:nvPr/>
        </p:nvSpPr>
        <p:spPr>
          <a:xfrm>
            <a:off x="665492" y="1953265"/>
            <a:ext cx="10695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Funkciók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3072B1CB-DEEB-D6BE-98C7-8D949F8B2C8D}"/>
              </a:ext>
            </a:extLst>
          </p:cNvPr>
          <p:cNvSpPr txBox="1"/>
          <p:nvPr/>
        </p:nvSpPr>
        <p:spPr>
          <a:xfrm>
            <a:off x="382828" y="1177458"/>
            <a:ext cx="1630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A </a:t>
            </a:r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projekt</a:t>
            </a:r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célja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E2AFBEC0-342E-3CBC-AAAF-C8CB1957732E}"/>
              </a:ext>
            </a:extLst>
          </p:cNvPr>
          <p:cNvSpPr txBox="1"/>
          <p:nvPr/>
        </p:nvSpPr>
        <p:spPr>
          <a:xfrm>
            <a:off x="799566" y="2755964"/>
            <a:ext cx="798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Demo</a:t>
            </a:r>
          </a:p>
        </p:txBody>
      </p:sp>
      <p:sp>
        <p:nvSpPr>
          <p:cNvPr id="28" name="Téglalap: lekerekített 27">
            <a:extLst>
              <a:ext uri="{FF2B5EF4-FFF2-40B4-BE49-F238E27FC236}">
                <a16:creationId xmlns:a16="http://schemas.microsoft.com/office/drawing/2014/main" id="{2A35E564-A653-2F62-5E16-513DC0EBED50}"/>
              </a:ext>
            </a:extLst>
          </p:cNvPr>
          <p:cNvSpPr/>
          <p:nvPr/>
        </p:nvSpPr>
        <p:spPr>
          <a:xfrm>
            <a:off x="152499" y="3504008"/>
            <a:ext cx="2095511" cy="461665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F2F49FDC-1247-6350-ACE6-01DD30412805}"/>
              </a:ext>
            </a:extLst>
          </p:cNvPr>
          <p:cNvSpPr txBox="1"/>
          <p:nvPr/>
        </p:nvSpPr>
        <p:spPr>
          <a:xfrm>
            <a:off x="456567" y="3565563"/>
            <a:ext cx="1556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Technológiák</a:t>
            </a:r>
            <a:endParaRPr lang="en-GB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D6639BE9-645D-C77B-2972-259964605185}"/>
              </a:ext>
            </a:extLst>
          </p:cNvPr>
          <p:cNvSpPr txBox="1"/>
          <p:nvPr/>
        </p:nvSpPr>
        <p:spPr>
          <a:xfrm>
            <a:off x="412479" y="4371404"/>
            <a:ext cx="16642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Csapatmunka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887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C71C4-2C89-4A7C-99DA-EEB6FADB5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769C9177-245E-4236-B9F2-7966C1CD03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246129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6A3399C7-3D40-BF53-1E1E-1C12B46ABA75}"/>
              </a:ext>
            </a:extLst>
          </p:cNvPr>
          <p:cNvSpPr txBox="1"/>
          <p:nvPr/>
        </p:nvSpPr>
        <p:spPr>
          <a:xfrm>
            <a:off x="540806" y="214714"/>
            <a:ext cx="19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latin typeface="Poppins SemiBold" panose="020B0502040204020203" pitchFamily="2" charset="0"/>
                <a:cs typeface="Poppins SemiBold" panose="020B0502040204020203" pitchFamily="2" charset="0"/>
              </a:rPr>
              <a:t>DepotMap</a:t>
            </a:r>
            <a:endParaRPr lang="en-GB" sz="2400" dirty="0">
              <a:latin typeface="Poppins SemiBold" panose="020B0502040204020203" pitchFamily="2" charset="0"/>
              <a:cs typeface="Poppins SemiBold" panose="020B0502040204020203" pitchFamily="2" charset="0"/>
            </a:endParaRP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DA6984A3-D3D6-61FA-9CB0-B177FC9E1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69" y="311027"/>
            <a:ext cx="269037" cy="269037"/>
          </a:xfrm>
          <a:prstGeom prst="rect">
            <a:avLst/>
          </a:prstGeom>
        </p:spPr>
      </p:pic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06C32A5B-1824-C242-6A44-75A23DAEA799}"/>
              </a:ext>
            </a:extLst>
          </p:cNvPr>
          <p:cNvSpPr/>
          <p:nvPr/>
        </p:nvSpPr>
        <p:spPr>
          <a:xfrm>
            <a:off x="152499" y="1120471"/>
            <a:ext cx="2095511" cy="461665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2B6C1771-F250-DF56-A033-BC0D3957FD44}"/>
              </a:ext>
            </a:extLst>
          </p:cNvPr>
          <p:cNvSpPr txBox="1"/>
          <p:nvPr/>
        </p:nvSpPr>
        <p:spPr>
          <a:xfrm>
            <a:off x="3290807" y="828083"/>
            <a:ext cx="4073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A </a:t>
            </a:r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csapatmunkáról</a:t>
            </a:r>
            <a:endParaRPr lang="en-GB" sz="3200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C8616C8C-0161-2B00-D783-172374D9E272}"/>
              </a:ext>
            </a:extLst>
          </p:cNvPr>
          <p:cNvSpPr txBox="1"/>
          <p:nvPr/>
        </p:nvSpPr>
        <p:spPr>
          <a:xfrm>
            <a:off x="3290807" y="1782600"/>
            <a:ext cx="84887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Heti 2 meeting (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hétfő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és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csütörtök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),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ahol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mindenki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aktívan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részt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vett</a:t>
            </a: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Pull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requesteknél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az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architect review-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olt</a:t>
            </a: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A dev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branchről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ágaztak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le a feature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branchek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, a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sprintek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végén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a master-be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mergeltünk</a:t>
            </a: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Mindenki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főként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egy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saját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nagyobb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komponenst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fejlesztett</a:t>
            </a: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A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felmerülő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kérdéseket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akár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meetingen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kívül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is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átbeszéltük</a:t>
            </a: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8" name="Ábra 7" descr="Csoportos ötletgyűjtés körvonalas">
            <a:extLst>
              <a:ext uri="{FF2B5EF4-FFF2-40B4-BE49-F238E27FC236}">
                <a16:creationId xmlns:a16="http://schemas.microsoft.com/office/drawing/2014/main" id="{C2693BAC-C61C-08E1-6E3C-DFC0DF87B9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75371" y="81626"/>
            <a:ext cx="2662463" cy="2662463"/>
          </a:xfrm>
          <a:prstGeom prst="rect">
            <a:avLst/>
          </a:prstGeom>
        </p:spPr>
      </p:pic>
      <p:sp>
        <p:nvSpPr>
          <p:cNvPr id="26" name="Téglalap 25">
            <a:extLst>
              <a:ext uri="{FF2B5EF4-FFF2-40B4-BE49-F238E27FC236}">
                <a16:creationId xmlns:a16="http://schemas.microsoft.com/office/drawing/2014/main" id="{6F05D0B3-D398-37BD-3288-A530110AF883}"/>
              </a:ext>
            </a:extLst>
          </p:cNvPr>
          <p:cNvSpPr/>
          <p:nvPr/>
        </p:nvSpPr>
        <p:spPr>
          <a:xfrm>
            <a:off x="0" y="0"/>
            <a:ext cx="246129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2751D7AE-ACE8-82C0-4F03-08BE92D173D8}"/>
              </a:ext>
            </a:extLst>
          </p:cNvPr>
          <p:cNvSpPr txBox="1"/>
          <p:nvPr/>
        </p:nvSpPr>
        <p:spPr>
          <a:xfrm>
            <a:off x="540806" y="214714"/>
            <a:ext cx="19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latin typeface="Poppins SemiBold" panose="020B0502040204020203" pitchFamily="2" charset="0"/>
                <a:cs typeface="Poppins SemiBold" panose="020B0502040204020203" pitchFamily="2" charset="0"/>
              </a:rPr>
              <a:t>DepotMap</a:t>
            </a:r>
            <a:endParaRPr lang="en-GB" sz="2400" dirty="0">
              <a:latin typeface="Poppins SemiBold" panose="020B0502040204020203" pitchFamily="2" charset="0"/>
              <a:cs typeface="Poppins SemiBold" panose="020B0502040204020203" pitchFamily="2" charset="0"/>
            </a:endParaRPr>
          </a:p>
        </p:txBody>
      </p:sp>
      <p:pic>
        <p:nvPicPr>
          <p:cNvPr id="28" name="Kép 27">
            <a:extLst>
              <a:ext uri="{FF2B5EF4-FFF2-40B4-BE49-F238E27FC236}">
                <a16:creationId xmlns:a16="http://schemas.microsoft.com/office/drawing/2014/main" id="{DB862871-A1DF-7B49-CC50-BC6492E4A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69" y="311027"/>
            <a:ext cx="269037" cy="269037"/>
          </a:xfrm>
          <a:prstGeom prst="rect">
            <a:avLst/>
          </a:prstGeom>
        </p:spPr>
      </p:pic>
      <p:sp>
        <p:nvSpPr>
          <p:cNvPr id="31" name="Szövegdoboz 30">
            <a:extLst>
              <a:ext uri="{FF2B5EF4-FFF2-40B4-BE49-F238E27FC236}">
                <a16:creationId xmlns:a16="http://schemas.microsoft.com/office/drawing/2014/main" id="{9F9DA489-01BB-F7FC-8BCD-F5BB27D4D96B}"/>
              </a:ext>
            </a:extLst>
          </p:cNvPr>
          <p:cNvSpPr txBox="1"/>
          <p:nvPr/>
        </p:nvSpPr>
        <p:spPr>
          <a:xfrm>
            <a:off x="665492" y="1953265"/>
            <a:ext cx="10695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Funkciók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6E2C14F5-4516-A114-09B2-7C482CEE5241}"/>
              </a:ext>
            </a:extLst>
          </p:cNvPr>
          <p:cNvSpPr txBox="1"/>
          <p:nvPr/>
        </p:nvSpPr>
        <p:spPr>
          <a:xfrm>
            <a:off x="382828" y="1177458"/>
            <a:ext cx="1630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A </a:t>
            </a:r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projekt</a:t>
            </a:r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célja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3F1D7E08-FA92-D44A-9D5D-F57479B77FE5}"/>
              </a:ext>
            </a:extLst>
          </p:cNvPr>
          <p:cNvSpPr txBox="1"/>
          <p:nvPr/>
        </p:nvSpPr>
        <p:spPr>
          <a:xfrm>
            <a:off x="799566" y="2755964"/>
            <a:ext cx="798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Demo</a:t>
            </a:r>
          </a:p>
        </p:txBody>
      </p:sp>
      <p:sp>
        <p:nvSpPr>
          <p:cNvPr id="36" name="Szövegdoboz 35">
            <a:extLst>
              <a:ext uri="{FF2B5EF4-FFF2-40B4-BE49-F238E27FC236}">
                <a16:creationId xmlns:a16="http://schemas.microsoft.com/office/drawing/2014/main" id="{2DECEDD2-3AEA-68E2-7071-CE6F778D8526}"/>
              </a:ext>
            </a:extLst>
          </p:cNvPr>
          <p:cNvSpPr txBox="1"/>
          <p:nvPr/>
        </p:nvSpPr>
        <p:spPr>
          <a:xfrm>
            <a:off x="456567" y="3565563"/>
            <a:ext cx="1556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Technológiák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églalap: lekerekített 36">
            <a:extLst>
              <a:ext uri="{FF2B5EF4-FFF2-40B4-BE49-F238E27FC236}">
                <a16:creationId xmlns:a16="http://schemas.microsoft.com/office/drawing/2014/main" id="{AD8971D5-8B8E-79B5-624E-A24A1E4AC793}"/>
              </a:ext>
            </a:extLst>
          </p:cNvPr>
          <p:cNvSpPr/>
          <p:nvPr/>
        </p:nvSpPr>
        <p:spPr>
          <a:xfrm>
            <a:off x="178419" y="4310157"/>
            <a:ext cx="2095511" cy="461665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Szövegdoboz 37">
            <a:extLst>
              <a:ext uri="{FF2B5EF4-FFF2-40B4-BE49-F238E27FC236}">
                <a16:creationId xmlns:a16="http://schemas.microsoft.com/office/drawing/2014/main" id="{DFE0AEBD-17B1-19A2-240A-326B9652D554}"/>
              </a:ext>
            </a:extLst>
          </p:cNvPr>
          <p:cNvSpPr txBox="1"/>
          <p:nvPr/>
        </p:nvSpPr>
        <p:spPr>
          <a:xfrm>
            <a:off x="412479" y="4371404"/>
            <a:ext cx="16642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Csapatmunka</a:t>
            </a:r>
            <a:endParaRPr lang="en-GB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40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7BCB1-7F9F-4CCE-B6D2-4795A028C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zövegdoboz 10">
            <a:extLst>
              <a:ext uri="{FF2B5EF4-FFF2-40B4-BE49-F238E27FC236}">
                <a16:creationId xmlns:a16="http://schemas.microsoft.com/office/drawing/2014/main" id="{071F1744-64F3-678B-9B90-5CD8DC3BAEAD}"/>
              </a:ext>
            </a:extLst>
          </p:cNvPr>
          <p:cNvSpPr txBox="1"/>
          <p:nvPr/>
        </p:nvSpPr>
        <p:spPr>
          <a:xfrm>
            <a:off x="3290807" y="828083"/>
            <a:ext cx="515237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A </a:t>
            </a:r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csapatmunkáról</a:t>
            </a:r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</a:p>
          <a:p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(</a:t>
            </a:r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feljegyzett</a:t>
            </a:r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 </a:t>
            </a:r>
            <a:r>
              <a:rPr lang="en-GB" sz="3200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problémák</a:t>
            </a:r>
            <a:r>
              <a:rPr lang="en-GB" sz="3200" dirty="0">
                <a:latin typeface="Poppins SemiBold" panose="00000700000000000000" pitchFamily="2" charset="0"/>
                <a:cs typeface="Poppins SemiBold" panose="00000700000000000000" pitchFamily="2" charset="0"/>
              </a:rPr>
              <a:t>)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477C828B-1225-5FBC-9FD7-1E43E594ABA7}"/>
              </a:ext>
            </a:extLst>
          </p:cNvPr>
          <p:cNvSpPr txBox="1"/>
          <p:nvPr/>
        </p:nvSpPr>
        <p:spPr>
          <a:xfrm>
            <a:off x="3290807" y="2176042"/>
            <a:ext cx="79444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A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projekt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megismerése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lassan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zajlott</a:t>
            </a: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Issue-k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kezelése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GitHub-on (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főként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 a </a:t>
            </a:r>
            <a:r>
              <a:rPr lang="en-GB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lezárás</a:t>
            </a:r>
            <a:r>
              <a:rPr lang="en-GB" dirty="0">
                <a:latin typeface="Poppins Medium" panose="00000600000000000000" pitchFamily="2" charset="0"/>
                <a:cs typeface="Poppins Medium" panose="00000600000000000000" pitchFamily="2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26" name="Ábra 25" descr="Csoportos ötletgyűjtés körvonalas">
            <a:extLst>
              <a:ext uri="{FF2B5EF4-FFF2-40B4-BE49-F238E27FC236}">
                <a16:creationId xmlns:a16="http://schemas.microsoft.com/office/drawing/2014/main" id="{08E0F9BF-193B-365F-0F96-24739601FE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5371" y="81626"/>
            <a:ext cx="2662463" cy="2662463"/>
          </a:xfrm>
          <a:prstGeom prst="rect">
            <a:avLst/>
          </a:prstGeom>
        </p:spPr>
      </p:pic>
      <p:sp>
        <p:nvSpPr>
          <p:cNvPr id="27" name="Téglalap 26">
            <a:extLst>
              <a:ext uri="{FF2B5EF4-FFF2-40B4-BE49-F238E27FC236}">
                <a16:creationId xmlns:a16="http://schemas.microsoft.com/office/drawing/2014/main" id="{01139557-D86B-5EE9-4F14-596D26D6C5B7}"/>
              </a:ext>
            </a:extLst>
          </p:cNvPr>
          <p:cNvSpPr/>
          <p:nvPr/>
        </p:nvSpPr>
        <p:spPr>
          <a:xfrm>
            <a:off x="0" y="0"/>
            <a:ext cx="246129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DEDDA85F-532C-3C3D-4E8C-74B6BB53FE7C}"/>
              </a:ext>
            </a:extLst>
          </p:cNvPr>
          <p:cNvSpPr txBox="1"/>
          <p:nvPr/>
        </p:nvSpPr>
        <p:spPr>
          <a:xfrm>
            <a:off x="540806" y="214714"/>
            <a:ext cx="1920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>
                <a:latin typeface="Poppins SemiBold" panose="020B0502040204020203" pitchFamily="2" charset="0"/>
                <a:cs typeface="Poppins SemiBold" panose="020B0502040204020203" pitchFamily="2" charset="0"/>
              </a:rPr>
              <a:t>DepotMap</a:t>
            </a:r>
            <a:endParaRPr lang="en-GB" sz="2400" dirty="0">
              <a:latin typeface="Poppins SemiBold" panose="020B0502040204020203" pitchFamily="2" charset="0"/>
              <a:cs typeface="Poppins SemiBold" panose="020B0502040204020203" pitchFamily="2" charset="0"/>
            </a:endParaRP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B36B95F7-C26A-BABD-F9B0-1BAD3B56AD82}"/>
              </a:ext>
            </a:extLst>
          </p:cNvPr>
          <p:cNvSpPr txBox="1"/>
          <p:nvPr/>
        </p:nvSpPr>
        <p:spPr>
          <a:xfrm>
            <a:off x="665492" y="1953265"/>
            <a:ext cx="10695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Funkciók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56062B52-E2EC-001D-9AB7-527528D7883C}"/>
              </a:ext>
            </a:extLst>
          </p:cNvPr>
          <p:cNvSpPr txBox="1"/>
          <p:nvPr/>
        </p:nvSpPr>
        <p:spPr>
          <a:xfrm>
            <a:off x="382828" y="1177458"/>
            <a:ext cx="1630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A </a:t>
            </a:r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projekt</a:t>
            </a:r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célja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97D91BA6-694F-4153-6E24-8DA8996DA09D}"/>
              </a:ext>
            </a:extLst>
          </p:cNvPr>
          <p:cNvSpPr txBox="1"/>
          <p:nvPr/>
        </p:nvSpPr>
        <p:spPr>
          <a:xfrm>
            <a:off x="799566" y="2755964"/>
            <a:ext cx="798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Poppins" panose="00000500000000000000" pitchFamily="2" charset="0"/>
                <a:cs typeface="Poppins" panose="00000500000000000000" pitchFamily="2" charset="0"/>
              </a:rPr>
              <a:t>Demo</a:t>
            </a: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4EF5BF46-964D-4E4E-A7F4-6BF9F8B62290}"/>
              </a:ext>
            </a:extLst>
          </p:cNvPr>
          <p:cNvSpPr txBox="1"/>
          <p:nvPr/>
        </p:nvSpPr>
        <p:spPr>
          <a:xfrm>
            <a:off x="456567" y="3565563"/>
            <a:ext cx="1556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latin typeface="Poppins" panose="00000500000000000000" pitchFamily="2" charset="0"/>
                <a:cs typeface="Poppins" panose="00000500000000000000" pitchFamily="2" charset="0"/>
              </a:rPr>
              <a:t>Technológiák</a:t>
            </a:r>
            <a:endParaRPr lang="en-GB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églalap: lekerekített 32">
            <a:extLst>
              <a:ext uri="{FF2B5EF4-FFF2-40B4-BE49-F238E27FC236}">
                <a16:creationId xmlns:a16="http://schemas.microsoft.com/office/drawing/2014/main" id="{5C1A9C73-B815-0CD9-0B96-D5B34C13A94C}"/>
              </a:ext>
            </a:extLst>
          </p:cNvPr>
          <p:cNvSpPr/>
          <p:nvPr/>
        </p:nvSpPr>
        <p:spPr>
          <a:xfrm>
            <a:off x="178419" y="4310157"/>
            <a:ext cx="2095511" cy="461665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E955D255-E5C3-F4F1-3C4B-4D8020185148}"/>
              </a:ext>
            </a:extLst>
          </p:cNvPr>
          <p:cNvSpPr txBox="1"/>
          <p:nvPr/>
        </p:nvSpPr>
        <p:spPr>
          <a:xfrm>
            <a:off x="412479" y="4371404"/>
            <a:ext cx="16642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Csapatmunka</a:t>
            </a:r>
            <a:endParaRPr lang="en-GB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5" name="Kép 34">
            <a:extLst>
              <a:ext uri="{FF2B5EF4-FFF2-40B4-BE49-F238E27FC236}">
                <a16:creationId xmlns:a16="http://schemas.microsoft.com/office/drawing/2014/main" id="{B7975157-1823-7128-F855-331C3C218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69" y="311027"/>
            <a:ext cx="269037" cy="26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211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3ED05-537B-6E03-7F0C-9A2E9C592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Kép 20">
            <a:extLst>
              <a:ext uri="{FF2B5EF4-FFF2-40B4-BE49-F238E27FC236}">
                <a16:creationId xmlns:a16="http://schemas.microsoft.com/office/drawing/2014/main" id="{9AC3079E-5B6C-468C-F98A-9099D7AA00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8477" r="19081" b="1320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3" name="Téglalap 22">
            <a:extLst>
              <a:ext uri="{FF2B5EF4-FFF2-40B4-BE49-F238E27FC236}">
                <a16:creationId xmlns:a16="http://schemas.microsoft.com/office/drawing/2014/main" id="{1151319F-EAD5-1C0D-1BA2-DC97D19B61E1}"/>
              </a:ext>
            </a:extLst>
          </p:cNvPr>
          <p:cNvSpPr/>
          <p:nvPr/>
        </p:nvSpPr>
        <p:spPr>
          <a:xfrm>
            <a:off x="0" y="2300663"/>
            <a:ext cx="12192000" cy="2103119"/>
          </a:xfrm>
          <a:prstGeom prst="rect">
            <a:avLst/>
          </a:prstGeom>
          <a:solidFill>
            <a:srgbClr val="2563EB">
              <a:alpha val="1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8" name="Csoportba foglalás 17">
            <a:extLst>
              <a:ext uri="{FF2B5EF4-FFF2-40B4-BE49-F238E27FC236}">
                <a16:creationId xmlns:a16="http://schemas.microsoft.com/office/drawing/2014/main" id="{653DD7CB-AA89-3F7C-C316-758EC41BED8C}"/>
              </a:ext>
            </a:extLst>
          </p:cNvPr>
          <p:cNvGrpSpPr/>
          <p:nvPr/>
        </p:nvGrpSpPr>
        <p:grpSpPr>
          <a:xfrm>
            <a:off x="4500406" y="991397"/>
            <a:ext cx="3515280" cy="646331"/>
            <a:chOff x="4318203" y="50311"/>
            <a:chExt cx="3515280" cy="646331"/>
          </a:xfrm>
        </p:grpSpPr>
        <p:sp>
          <p:nvSpPr>
            <p:cNvPr id="4" name="Szövegdoboz 3">
              <a:extLst>
                <a:ext uri="{FF2B5EF4-FFF2-40B4-BE49-F238E27FC236}">
                  <a16:creationId xmlns:a16="http://schemas.microsoft.com/office/drawing/2014/main" id="{D8EFDD6A-8C1A-8349-5CDF-C3821B32FD9E}"/>
                </a:ext>
              </a:extLst>
            </p:cNvPr>
            <p:cNvSpPr txBox="1"/>
            <p:nvPr/>
          </p:nvSpPr>
          <p:spPr>
            <a:xfrm>
              <a:off x="4790440" y="50311"/>
              <a:ext cx="30430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600" dirty="0" err="1">
                  <a:latin typeface="Poppins SemiBold" panose="020B0502040204020203" pitchFamily="2" charset="0"/>
                  <a:cs typeface="Poppins SemiBold" panose="020B0502040204020203" pitchFamily="2" charset="0"/>
                </a:rPr>
                <a:t>DepotMap</a:t>
              </a:r>
              <a:endParaRPr lang="en-GB" sz="3600" dirty="0">
                <a:latin typeface="Poppins SemiBold" panose="020B0502040204020203" pitchFamily="2" charset="0"/>
                <a:cs typeface="Poppins SemiBold" panose="020B0502040204020203" pitchFamily="2" charset="0"/>
              </a:endParaRPr>
            </a:p>
          </p:txBody>
        </p:sp>
        <p:pic>
          <p:nvPicPr>
            <p:cNvPr id="17" name="Kép 16">
              <a:extLst>
                <a:ext uri="{FF2B5EF4-FFF2-40B4-BE49-F238E27FC236}">
                  <a16:creationId xmlns:a16="http://schemas.microsoft.com/office/drawing/2014/main" id="{5FDD8F06-EA82-1327-C0F8-133E5A1EE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8203" y="135499"/>
              <a:ext cx="472237" cy="472237"/>
            </a:xfrm>
            <a:prstGeom prst="rect">
              <a:avLst/>
            </a:prstGeom>
          </p:spPr>
        </p:pic>
      </p:grp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0B1E4C7C-D663-9AB4-DE95-E12C358A6F49}"/>
              </a:ext>
            </a:extLst>
          </p:cNvPr>
          <p:cNvSpPr txBox="1"/>
          <p:nvPr/>
        </p:nvSpPr>
        <p:spPr>
          <a:xfrm>
            <a:off x="173275" y="2936723"/>
            <a:ext cx="11845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dirty="0" err="1">
                <a:latin typeface="Poppins Bold" panose="00000800000000000000" pitchFamily="2" charset="0"/>
                <a:cs typeface="Poppins Bold" panose="00000800000000000000" pitchFamily="2" charset="0"/>
              </a:rPr>
              <a:t>Köszönjük</a:t>
            </a:r>
            <a:r>
              <a:rPr lang="en-GB" sz="4800" dirty="0">
                <a:latin typeface="Poppins Bold" panose="00000800000000000000" pitchFamily="2" charset="0"/>
                <a:cs typeface="Poppins Bold" panose="00000800000000000000" pitchFamily="2" charset="0"/>
              </a:rPr>
              <a:t> a </a:t>
            </a:r>
            <a:r>
              <a:rPr lang="en-GB" sz="4800" dirty="0" err="1">
                <a:latin typeface="Poppins Bold" panose="00000800000000000000" pitchFamily="2" charset="0"/>
                <a:cs typeface="Poppins Bold" panose="00000800000000000000" pitchFamily="2" charset="0"/>
              </a:rPr>
              <a:t>figyelmet</a:t>
            </a:r>
            <a:r>
              <a:rPr lang="en-GB" sz="4800" dirty="0">
                <a:latin typeface="Poppins Bold" panose="00000800000000000000" pitchFamily="2" charset="0"/>
                <a:cs typeface="Poppins Bold" panose="00000800000000000000" pitchFamily="2" charset="0"/>
              </a:rPr>
              <a:t>!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4CD9EF7D-A1E3-17C6-F350-75168299310E}"/>
              </a:ext>
            </a:extLst>
          </p:cNvPr>
          <p:cNvSpPr txBox="1"/>
          <p:nvPr/>
        </p:nvSpPr>
        <p:spPr>
          <a:xfrm>
            <a:off x="4657945" y="4602432"/>
            <a:ext cx="28761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Rezsnyák Dániel</a:t>
            </a:r>
          </a:p>
          <a:p>
            <a:pPr algn="ctr"/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Keserű Gergely Márton</a:t>
            </a:r>
          </a:p>
          <a:p>
            <a:pPr algn="ctr"/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Orcsik Roland</a:t>
            </a:r>
          </a:p>
          <a:p>
            <a:pPr algn="ctr"/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Tisza Tamás</a:t>
            </a:r>
          </a:p>
          <a:p>
            <a:pPr algn="ctr"/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Erdei Krisztián</a:t>
            </a:r>
          </a:p>
          <a:p>
            <a:pPr algn="ctr"/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Kóbori Bence</a:t>
            </a:r>
          </a:p>
        </p:txBody>
      </p:sp>
    </p:spTree>
    <p:extLst>
      <p:ext uri="{BB962C8B-B14F-4D97-AF65-F5344CB8AC3E}">
        <p14:creationId xmlns:p14="http://schemas.microsoft.com/office/powerpoint/2010/main" val="2982095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307</Words>
  <Application>Microsoft Office PowerPoint</Application>
  <PresentationFormat>Szélesvásznú</PresentationFormat>
  <Paragraphs>83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Poppins</vt:lpstr>
      <vt:lpstr>Poppins Bold</vt:lpstr>
      <vt:lpstr>Poppins Medium</vt:lpstr>
      <vt:lpstr>Poppins SemiBold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Kóbori Bence</dc:creator>
  <cp:lastModifiedBy>Kóbori Bence</cp:lastModifiedBy>
  <cp:revision>5</cp:revision>
  <dcterms:created xsi:type="dcterms:W3CDTF">2026-05-20T07:45:23Z</dcterms:created>
  <dcterms:modified xsi:type="dcterms:W3CDTF">2026-05-20T18:46:34Z</dcterms:modified>
</cp:coreProperties>
</file>